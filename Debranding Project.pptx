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6" r:id="rId3"/>
    <p:sldId id="258" r:id="rId4"/>
    <p:sldId id="259" r:id="rId5"/>
    <p:sldId id="260"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176"/>
    <p:restoredTop sz="93006"/>
  </p:normalViewPr>
  <p:slideViewPr>
    <p:cSldViewPr snapToGrid="0">
      <p:cViewPr varScale="1">
        <p:scale>
          <a:sx n="68" d="100"/>
          <a:sy n="68" d="100"/>
        </p:scale>
        <p:origin x="216"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56E59-89FB-A049-B68D-EC13A4310BFB}" type="datetimeFigureOut">
              <a:rPr lang="en-US" smtClean="0"/>
              <a:t>7/12/25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AB0538-CCBD-3F4A-95CA-7927066A074D}" type="slidenum">
              <a:rPr lang="en-US" smtClean="0"/>
              <a:t>‹#›</a:t>
            </a:fld>
            <a:endParaRPr lang="en-US"/>
          </a:p>
        </p:txBody>
      </p:sp>
    </p:spTree>
    <p:extLst>
      <p:ext uri="{BB962C8B-B14F-4D97-AF65-F5344CB8AC3E}">
        <p14:creationId xmlns:p14="http://schemas.microsoft.com/office/powerpoint/2010/main" val="1441533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AB0538-CCBD-3F4A-95CA-7927066A074D}" type="slidenum">
              <a:rPr lang="en-US" smtClean="0"/>
              <a:t>3</a:t>
            </a:fld>
            <a:endParaRPr lang="en-US"/>
          </a:p>
        </p:txBody>
      </p:sp>
    </p:spTree>
    <p:extLst>
      <p:ext uri="{BB962C8B-B14F-4D97-AF65-F5344CB8AC3E}">
        <p14:creationId xmlns:p14="http://schemas.microsoft.com/office/powerpoint/2010/main" val="252286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AB0538-CCBD-3F4A-95CA-7927066A074D}" type="slidenum">
              <a:rPr lang="en-US" smtClean="0"/>
              <a:t>5</a:t>
            </a:fld>
            <a:endParaRPr lang="en-US"/>
          </a:p>
        </p:txBody>
      </p:sp>
    </p:spTree>
    <p:extLst>
      <p:ext uri="{BB962C8B-B14F-4D97-AF65-F5344CB8AC3E}">
        <p14:creationId xmlns:p14="http://schemas.microsoft.com/office/powerpoint/2010/main" val="622042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61A6-0CCC-AF8E-36E0-B7AF09D83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B3CE3-2213-5A11-AEC3-6E1EC0223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8AFB8-A748-67A9-DF55-2E3B5E6A6F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C6EE3F-9AFB-4A6D-C8FB-C84009C166F8}"/>
              </a:ext>
            </a:extLst>
          </p:cNvPr>
          <p:cNvSpPr>
            <a:spLocks noGrp="1"/>
          </p:cNvSpPr>
          <p:nvPr>
            <p:ph type="sldNum" sz="quarter" idx="5"/>
          </p:nvPr>
        </p:nvSpPr>
        <p:spPr/>
        <p:txBody>
          <a:bodyPr/>
          <a:lstStyle/>
          <a:p>
            <a:fld id="{48AB0538-CCBD-3F4A-95CA-7927066A074D}" type="slidenum">
              <a:rPr lang="en-US" smtClean="0"/>
              <a:t>6</a:t>
            </a:fld>
            <a:endParaRPr lang="en-US"/>
          </a:p>
        </p:txBody>
      </p:sp>
    </p:spTree>
    <p:extLst>
      <p:ext uri="{BB962C8B-B14F-4D97-AF65-F5344CB8AC3E}">
        <p14:creationId xmlns:p14="http://schemas.microsoft.com/office/powerpoint/2010/main" val="528193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68DC7-8352-58EC-120B-A6DDAD009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AE4FF-FA12-C8B9-E7FF-4F7536212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ABFEA-AAC6-E7D9-8548-B50E63E79D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36EB8B-949A-0DFA-7C84-F95659F40A09}"/>
              </a:ext>
            </a:extLst>
          </p:cNvPr>
          <p:cNvSpPr>
            <a:spLocks noGrp="1"/>
          </p:cNvSpPr>
          <p:nvPr>
            <p:ph type="sldNum" sz="quarter" idx="5"/>
          </p:nvPr>
        </p:nvSpPr>
        <p:spPr/>
        <p:txBody>
          <a:bodyPr/>
          <a:lstStyle/>
          <a:p>
            <a:fld id="{48AB0538-CCBD-3F4A-95CA-7927066A074D}" type="slidenum">
              <a:rPr lang="en-US" smtClean="0"/>
              <a:t>7</a:t>
            </a:fld>
            <a:endParaRPr lang="en-US"/>
          </a:p>
        </p:txBody>
      </p:sp>
    </p:spTree>
    <p:extLst>
      <p:ext uri="{BB962C8B-B14F-4D97-AF65-F5344CB8AC3E}">
        <p14:creationId xmlns:p14="http://schemas.microsoft.com/office/powerpoint/2010/main" val="2911322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7D6B0-54AB-EACB-869A-3B054ABE6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700B0-B52D-A19E-2FDF-F5FE375B3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8860F-CFFD-2F4D-2FB0-70252963DE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1F0B4F-46BF-62F2-7BA5-9DC22CDD91D0}"/>
              </a:ext>
            </a:extLst>
          </p:cNvPr>
          <p:cNvSpPr>
            <a:spLocks noGrp="1"/>
          </p:cNvSpPr>
          <p:nvPr>
            <p:ph type="sldNum" sz="quarter" idx="5"/>
          </p:nvPr>
        </p:nvSpPr>
        <p:spPr/>
        <p:txBody>
          <a:bodyPr/>
          <a:lstStyle/>
          <a:p>
            <a:fld id="{48AB0538-CCBD-3F4A-95CA-7927066A074D}" type="slidenum">
              <a:rPr lang="en-US" smtClean="0"/>
              <a:t>8</a:t>
            </a:fld>
            <a:endParaRPr lang="en-US"/>
          </a:p>
        </p:txBody>
      </p:sp>
    </p:spTree>
    <p:extLst>
      <p:ext uri="{BB962C8B-B14F-4D97-AF65-F5344CB8AC3E}">
        <p14:creationId xmlns:p14="http://schemas.microsoft.com/office/powerpoint/2010/main" val="3770450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F96A6-5581-952B-A55B-BA32784C3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AB1BD-757E-6C01-0822-71DD7BD43A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3D134-580D-6400-F92A-D5AB5487D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BC9701-8454-29FA-35DD-357E35F2E4F5}"/>
              </a:ext>
            </a:extLst>
          </p:cNvPr>
          <p:cNvSpPr>
            <a:spLocks noGrp="1"/>
          </p:cNvSpPr>
          <p:nvPr>
            <p:ph type="sldNum" sz="quarter" idx="5"/>
          </p:nvPr>
        </p:nvSpPr>
        <p:spPr/>
        <p:txBody>
          <a:bodyPr/>
          <a:lstStyle/>
          <a:p>
            <a:fld id="{48AB0538-CCBD-3F4A-95CA-7927066A074D}" type="slidenum">
              <a:rPr lang="en-US" smtClean="0"/>
              <a:t>9</a:t>
            </a:fld>
            <a:endParaRPr lang="en-US"/>
          </a:p>
        </p:txBody>
      </p:sp>
    </p:spTree>
    <p:extLst>
      <p:ext uri="{BB962C8B-B14F-4D97-AF65-F5344CB8AC3E}">
        <p14:creationId xmlns:p14="http://schemas.microsoft.com/office/powerpoint/2010/main" val="1081100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19791-328A-4DA8-779E-5A4E64E4E7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861460-63D9-4167-4BC0-68D2CDA5AD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8C22C1-2901-02F4-BA22-D44AE60A6536}"/>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5" name="Footer Placeholder 4">
            <a:extLst>
              <a:ext uri="{FF2B5EF4-FFF2-40B4-BE49-F238E27FC236}">
                <a16:creationId xmlns:a16="http://schemas.microsoft.com/office/drawing/2014/main" id="{793FBB4D-54EF-157B-4F34-77710D162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E24B5-904B-02C9-8FAC-63CCBFA2358A}"/>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3630323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5E8E0-438D-06D4-14FA-77939A978D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6BCC45-E84A-8697-AA5A-D07950B646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0AD70A-4F4B-87E9-160F-C43000479ABC}"/>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5" name="Footer Placeholder 4">
            <a:extLst>
              <a:ext uri="{FF2B5EF4-FFF2-40B4-BE49-F238E27FC236}">
                <a16:creationId xmlns:a16="http://schemas.microsoft.com/office/drawing/2014/main" id="{4E37537C-CBB1-CAB7-627D-7218CF023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147B29-EB30-A4F0-2014-C07A361D4B5D}"/>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3990922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D90FC-F023-0736-589D-6DB4402F0F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DBF9B0-DEFD-E238-003B-D4140BD250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CEDC31-6300-42FD-2D68-9C7AF767F6D0}"/>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5" name="Footer Placeholder 4">
            <a:extLst>
              <a:ext uri="{FF2B5EF4-FFF2-40B4-BE49-F238E27FC236}">
                <a16:creationId xmlns:a16="http://schemas.microsoft.com/office/drawing/2014/main" id="{BA0F8335-E411-9EB8-0C14-F045286259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C7E4F-09FD-9EA7-6528-45C22669F112}"/>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486143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00BA1-4925-A090-A3B8-65E129542A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6B342E-AAF0-188E-7763-94E9B21842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F62979-94A9-F6F9-5E57-E05521372B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CDD0CE-419C-D6E6-0512-825B8220784A}"/>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6" name="Footer Placeholder 5">
            <a:extLst>
              <a:ext uri="{FF2B5EF4-FFF2-40B4-BE49-F238E27FC236}">
                <a16:creationId xmlns:a16="http://schemas.microsoft.com/office/drawing/2014/main" id="{2EDAFB74-E8A8-E67C-955B-7563D7E94F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0CC60-6E6D-7BEB-3F1F-A8D44FC7C0B5}"/>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3093532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3CFC5-BE9C-22D9-A7D0-EE42D90E0A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293425-ED60-BF37-06F5-5936295981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D17C9F-47BE-9451-6B03-ED18CC4956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7A42C8-00A7-213D-0C63-10A2A9E98E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B042D2-F647-D7C3-CC02-729ACF1B10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F097F6-C6E7-EC0D-75D9-A387D25D486F}"/>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8" name="Footer Placeholder 7">
            <a:extLst>
              <a:ext uri="{FF2B5EF4-FFF2-40B4-BE49-F238E27FC236}">
                <a16:creationId xmlns:a16="http://schemas.microsoft.com/office/drawing/2014/main" id="{72061B9B-E376-8684-650C-F2D8B22C9C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1529E8-D3AD-16F7-C160-B3B9378F185D}"/>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444677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AE0D-A9E2-DF9F-B0AF-2399A863BF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41D616-92A7-549A-614A-1E03FFD35B09}"/>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4" name="Footer Placeholder 3">
            <a:extLst>
              <a:ext uri="{FF2B5EF4-FFF2-40B4-BE49-F238E27FC236}">
                <a16:creationId xmlns:a16="http://schemas.microsoft.com/office/drawing/2014/main" id="{B5F6F4B1-0189-B16B-E649-C37C94E0BC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035537-1966-05A9-6CD6-02D64AE24D59}"/>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32823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5B2800-5D5E-A021-424C-188BBAC50E21}"/>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3" name="Footer Placeholder 2">
            <a:extLst>
              <a:ext uri="{FF2B5EF4-FFF2-40B4-BE49-F238E27FC236}">
                <a16:creationId xmlns:a16="http://schemas.microsoft.com/office/drawing/2014/main" id="{E3F1E9FE-CAF5-C3D8-A940-1039EB6FF4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814EAA-9F56-25D8-607C-00EAB4922136}"/>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271699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159B-2CC1-A9A1-D18C-37E5DBF67C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4231E3-CEED-4A7C-D48C-1C1603B443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CF82B0-7E80-11B4-70D2-955EE9024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5620B-E17F-F16A-0EA8-2262CA8298F9}"/>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6" name="Footer Placeholder 5">
            <a:extLst>
              <a:ext uri="{FF2B5EF4-FFF2-40B4-BE49-F238E27FC236}">
                <a16:creationId xmlns:a16="http://schemas.microsoft.com/office/drawing/2014/main" id="{DA7B6A1F-9268-E7DB-8D89-B1B46C07A4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49EAE1-EF95-AF46-FDE7-B9C0C8229DD8}"/>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379860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4CEB-F1AD-E69C-5286-226F0B99CC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542A3A-EFFF-BC9F-5C5F-F5844D7533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B55961-9ED3-A1F6-9533-6D0F0B81F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3D8B84-04EC-E7AF-81F5-9BCBCF073EFD}"/>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6" name="Footer Placeholder 5">
            <a:extLst>
              <a:ext uri="{FF2B5EF4-FFF2-40B4-BE49-F238E27FC236}">
                <a16:creationId xmlns:a16="http://schemas.microsoft.com/office/drawing/2014/main" id="{728B2BE0-45FD-7CD7-EE55-E2FAA343D8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D5066-1D10-B8A1-EF78-6B7CB3A01AA4}"/>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3580605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69288-9D26-56A4-877A-E5B8E8A54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F691E8-6DAB-3036-1F27-8D68A99FA2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912684-6DB2-27FB-0457-36A94E784659}"/>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5" name="Footer Placeholder 4">
            <a:extLst>
              <a:ext uri="{FF2B5EF4-FFF2-40B4-BE49-F238E27FC236}">
                <a16:creationId xmlns:a16="http://schemas.microsoft.com/office/drawing/2014/main" id="{5BBA0A00-8518-52B7-B1F7-B86ABC0EC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74518E-E4F8-7154-898C-0C778E8EB49B}"/>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1044964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2F305F-1B75-2B07-C151-4CF27B3B2E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B38DEF-C240-23DA-31F4-455A8801E0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AC2D4B-2C51-DC75-7789-830F12B88BB9}"/>
              </a:ext>
            </a:extLst>
          </p:cNvPr>
          <p:cNvSpPr>
            <a:spLocks noGrp="1"/>
          </p:cNvSpPr>
          <p:nvPr>
            <p:ph type="dt" sz="half" idx="10"/>
          </p:nvPr>
        </p:nvSpPr>
        <p:spPr/>
        <p:txBody>
          <a:bodyPr/>
          <a:lstStyle/>
          <a:p>
            <a:fld id="{5BF29BED-8489-134B-9117-D5DE6E335EBE}" type="datetimeFigureOut">
              <a:rPr lang="en-US" smtClean="0"/>
              <a:t>7/12/25</a:t>
            </a:fld>
            <a:endParaRPr lang="en-US"/>
          </a:p>
        </p:txBody>
      </p:sp>
      <p:sp>
        <p:nvSpPr>
          <p:cNvPr id="5" name="Footer Placeholder 4">
            <a:extLst>
              <a:ext uri="{FF2B5EF4-FFF2-40B4-BE49-F238E27FC236}">
                <a16:creationId xmlns:a16="http://schemas.microsoft.com/office/drawing/2014/main" id="{D555A1EA-EC91-9E11-3484-9300808AAD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55729-8999-0821-5D25-F4E8F05A444C}"/>
              </a:ext>
            </a:extLst>
          </p:cNvPr>
          <p:cNvSpPr>
            <a:spLocks noGrp="1"/>
          </p:cNvSpPr>
          <p:nvPr>
            <p:ph type="sldNum" sz="quarter" idx="12"/>
          </p:nvPr>
        </p:nvSpPr>
        <p:spPr/>
        <p:txBody>
          <a:bodyPr/>
          <a:lstStyle/>
          <a:p>
            <a:fld id="{17AFDA5F-87C0-9F4D-98BE-D6DFC35368C7}" type="slidenum">
              <a:rPr lang="en-US" smtClean="0"/>
              <a:t>‹#›</a:t>
            </a:fld>
            <a:endParaRPr lang="en-US"/>
          </a:p>
        </p:txBody>
      </p:sp>
    </p:spTree>
    <p:extLst>
      <p:ext uri="{BB962C8B-B14F-4D97-AF65-F5344CB8AC3E}">
        <p14:creationId xmlns:p14="http://schemas.microsoft.com/office/powerpoint/2010/main" val="3006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2D136F-391E-26AE-BC0D-7D1FA742C5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BE3BE6-0672-4BFC-A5D7-C4D9709CDE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A4291-5BC0-FFD6-8CC0-B0C242DA73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F29BED-8489-134B-9117-D5DE6E335EBE}" type="datetimeFigureOut">
              <a:rPr lang="en-US" smtClean="0"/>
              <a:t>7/12/25</a:t>
            </a:fld>
            <a:endParaRPr lang="en-US"/>
          </a:p>
        </p:txBody>
      </p:sp>
      <p:sp>
        <p:nvSpPr>
          <p:cNvPr id="5" name="Footer Placeholder 4">
            <a:extLst>
              <a:ext uri="{FF2B5EF4-FFF2-40B4-BE49-F238E27FC236}">
                <a16:creationId xmlns:a16="http://schemas.microsoft.com/office/drawing/2014/main" id="{55227671-74C5-998A-29E1-8A8A6EFA02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4275C7-F522-F504-E770-A4296C330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FDA5F-87C0-9F4D-98BE-D6DFC35368C7}" type="slidenum">
              <a:rPr lang="en-US" smtClean="0"/>
              <a:t>‹#›</a:t>
            </a:fld>
            <a:endParaRPr lang="en-US"/>
          </a:p>
        </p:txBody>
      </p:sp>
    </p:spTree>
    <p:extLst>
      <p:ext uri="{BB962C8B-B14F-4D97-AF65-F5344CB8AC3E}">
        <p14:creationId xmlns:p14="http://schemas.microsoft.com/office/powerpoint/2010/main" val="2288869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file:///word/medi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84A86-5607-BFDF-BDE3-C9F2A41C64E1}"/>
              </a:ext>
            </a:extLst>
          </p:cNvPr>
          <p:cNvSpPr>
            <a:spLocks noGrp="1"/>
          </p:cNvSpPr>
          <p:nvPr>
            <p:ph type="ctrTitle"/>
          </p:nvPr>
        </p:nvSpPr>
        <p:spPr/>
        <p:txBody>
          <a:bodyPr/>
          <a:lstStyle/>
          <a:p>
            <a:r>
              <a:rPr lang="en-US" dirty="0">
                <a:solidFill>
                  <a:schemeClr val="tx1"/>
                </a:solidFill>
                <a:latin typeface="Abadi" panose="020F0502020204030204" pitchFamily="34" charset="0"/>
              </a:rPr>
              <a:t>Debranding of Diamond Drilling Documents</a:t>
            </a:r>
            <a:endParaRPr lang="en-US" dirty="0"/>
          </a:p>
        </p:txBody>
      </p:sp>
      <p:pic>
        <p:nvPicPr>
          <p:cNvPr id="5" name="Picture 4">
            <a:extLst>
              <a:ext uri="{FF2B5EF4-FFF2-40B4-BE49-F238E27FC236}">
                <a16:creationId xmlns:a16="http://schemas.microsoft.com/office/drawing/2014/main" id="{BCA423DF-7FC0-C04C-04D5-5F207AEE6569}"/>
              </a:ext>
            </a:extLst>
          </p:cNvPr>
          <p:cNvPicPr>
            <a:picLocks noChangeAspect="1"/>
          </p:cNvPicPr>
          <p:nvPr/>
        </p:nvPicPr>
        <p:blipFill>
          <a:blip r:embed="rId2"/>
          <a:stretch>
            <a:fillRect/>
          </a:stretch>
        </p:blipFill>
        <p:spPr>
          <a:xfrm>
            <a:off x="2075107" y="3957968"/>
            <a:ext cx="2452891" cy="902664"/>
          </a:xfrm>
          <a:prstGeom prst="rect">
            <a:avLst/>
          </a:prstGeom>
        </p:spPr>
      </p:pic>
      <p:pic>
        <p:nvPicPr>
          <p:cNvPr id="7" name="Picture 6">
            <a:extLst>
              <a:ext uri="{FF2B5EF4-FFF2-40B4-BE49-F238E27FC236}">
                <a16:creationId xmlns:a16="http://schemas.microsoft.com/office/drawing/2014/main" id="{7B109800-A7F3-999F-3C4F-DF0E2B106185}"/>
              </a:ext>
            </a:extLst>
          </p:cNvPr>
          <p:cNvPicPr>
            <a:picLocks noChangeAspect="1"/>
          </p:cNvPicPr>
          <p:nvPr/>
        </p:nvPicPr>
        <p:blipFill>
          <a:blip r:embed="rId3"/>
          <a:stretch>
            <a:fillRect/>
          </a:stretch>
        </p:blipFill>
        <p:spPr>
          <a:xfrm>
            <a:off x="5079105" y="4052445"/>
            <a:ext cx="2227564" cy="754948"/>
          </a:xfrm>
          <a:prstGeom prst="rect">
            <a:avLst/>
          </a:prstGeom>
        </p:spPr>
      </p:pic>
      <p:pic>
        <p:nvPicPr>
          <p:cNvPr id="9" name="Picture 8">
            <a:extLst>
              <a:ext uri="{FF2B5EF4-FFF2-40B4-BE49-F238E27FC236}">
                <a16:creationId xmlns:a16="http://schemas.microsoft.com/office/drawing/2014/main" id="{98119F9A-7EEC-71C8-B92F-F08741B8B47C}"/>
              </a:ext>
            </a:extLst>
          </p:cNvPr>
          <p:cNvPicPr>
            <a:picLocks noChangeAspect="1"/>
          </p:cNvPicPr>
          <p:nvPr/>
        </p:nvPicPr>
        <p:blipFill>
          <a:blip r:embed="rId4"/>
          <a:stretch>
            <a:fillRect/>
          </a:stretch>
        </p:blipFill>
        <p:spPr>
          <a:xfrm>
            <a:off x="7857776" y="3867892"/>
            <a:ext cx="1523962" cy="1082815"/>
          </a:xfrm>
          <a:prstGeom prst="rect">
            <a:avLst/>
          </a:prstGeom>
        </p:spPr>
      </p:pic>
    </p:spTree>
    <p:extLst>
      <p:ext uri="{BB962C8B-B14F-4D97-AF65-F5344CB8AC3E}">
        <p14:creationId xmlns:p14="http://schemas.microsoft.com/office/powerpoint/2010/main" val="1392595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73211-2BC9-85FD-50AB-080BC6F433F4}"/>
              </a:ext>
            </a:extLst>
          </p:cNvPr>
          <p:cNvSpPr>
            <a:spLocks noGrp="1"/>
          </p:cNvSpPr>
          <p:nvPr>
            <p:ph type="title"/>
          </p:nvPr>
        </p:nvSpPr>
        <p:spPr>
          <a:xfrm>
            <a:off x="155448" y="265874"/>
            <a:ext cx="4258056" cy="415163"/>
          </a:xfrm>
        </p:spPr>
        <p:txBody>
          <a:bodyPr>
            <a:normAutofit fontScale="90000"/>
          </a:bodyPr>
          <a:lstStyle/>
          <a:p>
            <a:r>
              <a:rPr lang="en-US" dirty="0"/>
              <a:t>Process Flow</a:t>
            </a:r>
          </a:p>
        </p:txBody>
      </p:sp>
      <p:pic>
        <p:nvPicPr>
          <p:cNvPr id="1026" name="Picture 2">
            <a:extLst>
              <a:ext uri="{FF2B5EF4-FFF2-40B4-BE49-F238E27FC236}">
                <a16:creationId xmlns:a16="http://schemas.microsoft.com/office/drawing/2014/main" id="{FB51D515-74D3-869B-A5E1-D8CF42F978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3256" y="-29558"/>
            <a:ext cx="8262696" cy="6917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20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BCD1-F622-697B-ABDF-AB528DEDBDF0}"/>
              </a:ext>
            </a:extLst>
          </p:cNvPr>
          <p:cNvSpPr>
            <a:spLocks noGrp="1"/>
          </p:cNvSpPr>
          <p:nvPr>
            <p:ph type="title"/>
          </p:nvPr>
        </p:nvSpPr>
        <p:spPr/>
        <p:txBody>
          <a:bodyPr/>
          <a:lstStyle/>
          <a:p>
            <a:r>
              <a:rPr lang="en-US" dirty="0"/>
              <a:t>The problem &amp; idea</a:t>
            </a:r>
          </a:p>
        </p:txBody>
      </p:sp>
      <p:sp>
        <p:nvSpPr>
          <p:cNvPr id="3" name="Content Placeholder 2">
            <a:extLst>
              <a:ext uri="{FF2B5EF4-FFF2-40B4-BE49-F238E27FC236}">
                <a16:creationId xmlns:a16="http://schemas.microsoft.com/office/drawing/2014/main" id="{C56CB30E-405D-6BAC-FF38-73F417F07157}"/>
              </a:ext>
            </a:extLst>
          </p:cNvPr>
          <p:cNvSpPr>
            <a:spLocks noGrp="1"/>
          </p:cNvSpPr>
          <p:nvPr>
            <p:ph idx="1"/>
          </p:nvPr>
        </p:nvSpPr>
        <p:spPr>
          <a:xfrm>
            <a:off x="838200" y="1343446"/>
            <a:ext cx="10515600" cy="4721688"/>
          </a:xfrm>
        </p:spPr>
        <p:txBody>
          <a:bodyPr>
            <a:normAutofit/>
          </a:bodyPr>
          <a:lstStyle/>
          <a:p>
            <a:r>
              <a:rPr lang="en-PH" dirty="0"/>
              <a:t>In 2024, the company I am working with acquired Diamond Drilling, leading to 1,000-2,000 legal documents requiring removal of logo for oil rigs. With no plans to hire additional staff, the focus is on fast, accurate, and cost-effective completion of the project. </a:t>
            </a:r>
          </a:p>
          <a:p>
            <a:r>
              <a:rPr lang="en-US" dirty="0"/>
              <a:t>The idea is to create a robot that can run in multiple servers for quicker completion. It should also be cost effective, that means the technology to be used should be free of use, and the deployment to production should be immediate as the project is connected to legal side of the company. </a:t>
            </a:r>
          </a:p>
          <a:p>
            <a:pPr marL="0" indent="0">
              <a:buNone/>
            </a:pPr>
            <a:endParaRPr lang="en-PH" dirty="0"/>
          </a:p>
          <a:p>
            <a:endParaRPr lang="en-US" dirty="0"/>
          </a:p>
        </p:txBody>
      </p:sp>
    </p:spTree>
    <p:extLst>
      <p:ext uri="{BB962C8B-B14F-4D97-AF65-F5344CB8AC3E}">
        <p14:creationId xmlns:p14="http://schemas.microsoft.com/office/powerpoint/2010/main" val="1216333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194B2-7B60-1C35-40BC-AE74C45A91A9}"/>
              </a:ext>
            </a:extLst>
          </p:cNvPr>
          <p:cNvSpPr>
            <a:spLocks noGrp="1"/>
          </p:cNvSpPr>
          <p:nvPr>
            <p:ph type="title"/>
          </p:nvPr>
        </p:nvSpPr>
        <p:spPr/>
        <p:txBody>
          <a:bodyPr/>
          <a:lstStyle/>
          <a:p>
            <a:r>
              <a:rPr lang="en-US" dirty="0"/>
              <a:t>The solution &amp; output</a:t>
            </a:r>
          </a:p>
        </p:txBody>
      </p:sp>
      <p:sp>
        <p:nvSpPr>
          <p:cNvPr id="3" name="Content Placeholder 2">
            <a:extLst>
              <a:ext uri="{FF2B5EF4-FFF2-40B4-BE49-F238E27FC236}">
                <a16:creationId xmlns:a16="http://schemas.microsoft.com/office/drawing/2014/main" id="{85F6576F-BBF9-D8B7-5F52-9218AE589DEB}"/>
              </a:ext>
            </a:extLst>
          </p:cNvPr>
          <p:cNvSpPr>
            <a:spLocks noGrp="1"/>
          </p:cNvSpPr>
          <p:nvPr>
            <p:ph idx="1"/>
          </p:nvPr>
        </p:nvSpPr>
        <p:spPr>
          <a:xfrm>
            <a:off x="838200" y="1489959"/>
            <a:ext cx="10515600" cy="4351338"/>
          </a:xfrm>
        </p:spPr>
        <p:txBody>
          <a:bodyPr/>
          <a:lstStyle/>
          <a:p>
            <a:pPr marL="0" indent="0">
              <a:buNone/>
            </a:pPr>
            <a:r>
              <a:rPr lang="en-PH" dirty="0"/>
              <a:t>I developed a Blue Prism robot with supervised OneDrive access for multi-server deployment and monitoring. This solution integrates Python executables (one for DOCX logo replacement, adapted from a 2023 handover script, and another I created for PDF to DOCX conversion due to Blue Prism's limitations) to automate file movement, removing of logo in DOCX file, and DOCX to PDF conversion. The initial run yielded a </a:t>
            </a:r>
            <a:r>
              <a:rPr lang="en-PH" b="1" dirty="0"/>
              <a:t>98% clean PDF file rate</a:t>
            </a:r>
            <a:r>
              <a:rPr lang="en-PH" dirty="0"/>
              <a:t>, with </a:t>
            </a:r>
            <a:r>
              <a:rPr lang="en-PH" b="1" dirty="0"/>
              <a:t>500 documents processed</a:t>
            </a:r>
            <a:r>
              <a:rPr lang="en-PH" dirty="0"/>
              <a:t>.</a:t>
            </a:r>
            <a:endParaRPr lang="en-US" dirty="0"/>
          </a:p>
        </p:txBody>
      </p:sp>
    </p:spTree>
    <p:extLst>
      <p:ext uri="{BB962C8B-B14F-4D97-AF65-F5344CB8AC3E}">
        <p14:creationId xmlns:p14="http://schemas.microsoft.com/office/powerpoint/2010/main" val="977402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2CBB8-5DEE-7E03-7684-A251A1F9C37F}"/>
              </a:ext>
            </a:extLst>
          </p:cNvPr>
          <p:cNvSpPr>
            <a:spLocks noGrp="1"/>
          </p:cNvSpPr>
          <p:nvPr>
            <p:ph type="title"/>
          </p:nvPr>
        </p:nvSpPr>
        <p:spPr>
          <a:xfrm>
            <a:off x="90054" y="-228642"/>
            <a:ext cx="10515600" cy="1325563"/>
          </a:xfrm>
        </p:spPr>
        <p:txBody>
          <a:bodyPr/>
          <a:lstStyle/>
          <a:p>
            <a:r>
              <a:rPr lang="en-US" dirty="0"/>
              <a:t>How it did </a:t>
            </a:r>
            <a:r>
              <a:rPr lang="en-US" dirty="0" err="1"/>
              <a:t>i</a:t>
            </a:r>
            <a:endParaRPr lang="en-US" dirty="0"/>
          </a:p>
        </p:txBody>
      </p:sp>
      <p:pic>
        <p:nvPicPr>
          <p:cNvPr id="7" name="Picture 6">
            <a:extLst>
              <a:ext uri="{FF2B5EF4-FFF2-40B4-BE49-F238E27FC236}">
                <a16:creationId xmlns:a16="http://schemas.microsoft.com/office/drawing/2014/main" id="{64308E28-2B72-55BE-F921-76740ABAAFFC}"/>
              </a:ext>
            </a:extLst>
          </p:cNvPr>
          <p:cNvPicPr>
            <a:picLocks noChangeAspect="1"/>
          </p:cNvPicPr>
          <p:nvPr/>
        </p:nvPicPr>
        <p:blipFill>
          <a:blip r:embed="rId3"/>
          <a:stretch>
            <a:fillRect/>
          </a:stretch>
        </p:blipFill>
        <p:spPr>
          <a:xfrm>
            <a:off x="416237" y="916543"/>
            <a:ext cx="11359526" cy="2194791"/>
          </a:xfrm>
          <a:prstGeom prst="rect">
            <a:avLst/>
          </a:prstGeom>
        </p:spPr>
      </p:pic>
      <p:sp>
        <p:nvSpPr>
          <p:cNvPr id="8" name="TextBox 7">
            <a:extLst>
              <a:ext uri="{FF2B5EF4-FFF2-40B4-BE49-F238E27FC236}">
                <a16:creationId xmlns:a16="http://schemas.microsoft.com/office/drawing/2014/main" id="{B9BDF4F6-87B9-599C-E098-8D274C9A3284}"/>
              </a:ext>
            </a:extLst>
          </p:cNvPr>
          <p:cNvSpPr txBox="1"/>
          <p:nvPr/>
        </p:nvSpPr>
        <p:spPr>
          <a:xfrm>
            <a:off x="285006" y="3245372"/>
            <a:ext cx="6923315" cy="1754326"/>
          </a:xfrm>
          <a:prstGeom prst="rect">
            <a:avLst/>
          </a:prstGeom>
          <a:noFill/>
        </p:spPr>
        <p:txBody>
          <a:bodyPr wrap="square" rtlCol="0">
            <a:spAutoFit/>
          </a:bodyPr>
          <a:lstStyle/>
          <a:p>
            <a:r>
              <a:rPr lang="en-PH" dirty="0"/>
              <a:t>I modified an existing Python script, and packaged it in main_modified_backup.exe. The logic from line 103 is to extract DOCX content to a temporary location and replace header logos (image1.png or image2.png) with a new, identically named PNG. This was implemented with a simple for-loop and if-else condition to ensure ease of understanding for other developers during handover.</a:t>
            </a:r>
            <a:endParaRPr lang="en-US" dirty="0"/>
          </a:p>
        </p:txBody>
      </p:sp>
    </p:spTree>
    <p:extLst>
      <p:ext uri="{BB962C8B-B14F-4D97-AF65-F5344CB8AC3E}">
        <p14:creationId xmlns:p14="http://schemas.microsoft.com/office/powerpoint/2010/main" val="2523138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5A0F-305F-172E-9F8B-2ECCFEF97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E73CD-5192-9EFC-1F32-E0DBDA570C6D}"/>
              </a:ext>
            </a:extLst>
          </p:cNvPr>
          <p:cNvSpPr>
            <a:spLocks noGrp="1"/>
          </p:cNvSpPr>
          <p:nvPr>
            <p:ph type="title"/>
          </p:nvPr>
        </p:nvSpPr>
        <p:spPr>
          <a:xfrm>
            <a:off x="90054" y="-228642"/>
            <a:ext cx="10515600" cy="1325563"/>
          </a:xfrm>
        </p:spPr>
        <p:txBody>
          <a:bodyPr/>
          <a:lstStyle/>
          <a:p>
            <a:r>
              <a:rPr lang="en-US" dirty="0"/>
              <a:t>How it works: Core task</a:t>
            </a:r>
          </a:p>
        </p:txBody>
      </p:sp>
      <p:sp>
        <p:nvSpPr>
          <p:cNvPr id="8" name="TextBox 7">
            <a:extLst>
              <a:ext uri="{FF2B5EF4-FFF2-40B4-BE49-F238E27FC236}">
                <a16:creationId xmlns:a16="http://schemas.microsoft.com/office/drawing/2014/main" id="{721F4842-27D8-91AA-39F9-9AA0832C2305}"/>
              </a:ext>
            </a:extLst>
          </p:cNvPr>
          <p:cNvSpPr txBox="1"/>
          <p:nvPr/>
        </p:nvSpPr>
        <p:spPr>
          <a:xfrm>
            <a:off x="164860" y="3641206"/>
            <a:ext cx="6339674" cy="923330"/>
          </a:xfrm>
          <a:prstGeom prst="rect">
            <a:avLst/>
          </a:prstGeom>
          <a:noFill/>
        </p:spPr>
        <p:txBody>
          <a:bodyPr wrap="square" rtlCol="0">
            <a:spAutoFit/>
          </a:bodyPr>
          <a:lstStyle/>
          <a:p>
            <a:r>
              <a:rPr lang="en-PH" dirty="0"/>
              <a:t>Here a temporary path is created where it stored the extracted XML, HTML, and images from the docx file. In the </a:t>
            </a:r>
            <a:r>
              <a:rPr lang="en-PH" dirty="0">
                <a:hlinkClick r:id="rId3"/>
              </a:rPr>
              <a:t>\\word\\media\\</a:t>
            </a:r>
            <a:r>
              <a:rPr lang="en-PH" dirty="0"/>
              <a:t> path is where I found the logo document.</a:t>
            </a:r>
            <a:endParaRPr lang="en-US" dirty="0"/>
          </a:p>
        </p:txBody>
      </p:sp>
      <p:pic>
        <p:nvPicPr>
          <p:cNvPr id="3" name="Picture 2">
            <a:extLst>
              <a:ext uri="{FF2B5EF4-FFF2-40B4-BE49-F238E27FC236}">
                <a16:creationId xmlns:a16="http://schemas.microsoft.com/office/drawing/2014/main" id="{99246922-26B9-D04C-B387-F681FF8494F6}"/>
              </a:ext>
            </a:extLst>
          </p:cNvPr>
          <p:cNvPicPr>
            <a:picLocks noChangeAspect="1"/>
          </p:cNvPicPr>
          <p:nvPr/>
        </p:nvPicPr>
        <p:blipFill>
          <a:blip r:embed="rId4"/>
          <a:stretch>
            <a:fillRect/>
          </a:stretch>
        </p:blipFill>
        <p:spPr>
          <a:xfrm>
            <a:off x="202236" y="925911"/>
            <a:ext cx="6302298" cy="2630749"/>
          </a:xfrm>
          <a:prstGeom prst="rect">
            <a:avLst/>
          </a:prstGeom>
        </p:spPr>
      </p:pic>
      <p:pic>
        <p:nvPicPr>
          <p:cNvPr id="5" name="Picture 4">
            <a:extLst>
              <a:ext uri="{FF2B5EF4-FFF2-40B4-BE49-F238E27FC236}">
                <a16:creationId xmlns:a16="http://schemas.microsoft.com/office/drawing/2014/main" id="{F9734718-E8C3-CCBB-1921-0B23B15ABED0}"/>
              </a:ext>
            </a:extLst>
          </p:cNvPr>
          <p:cNvPicPr>
            <a:picLocks noChangeAspect="1"/>
          </p:cNvPicPr>
          <p:nvPr/>
        </p:nvPicPr>
        <p:blipFill>
          <a:blip r:embed="rId5"/>
          <a:stretch>
            <a:fillRect/>
          </a:stretch>
        </p:blipFill>
        <p:spPr>
          <a:xfrm>
            <a:off x="5347854" y="1643132"/>
            <a:ext cx="4912428" cy="1913528"/>
          </a:xfrm>
          <a:prstGeom prst="rect">
            <a:avLst/>
          </a:prstGeom>
        </p:spPr>
      </p:pic>
      <p:cxnSp>
        <p:nvCxnSpPr>
          <p:cNvPr id="10" name="Straight Arrow Connector 9">
            <a:extLst>
              <a:ext uri="{FF2B5EF4-FFF2-40B4-BE49-F238E27FC236}">
                <a16:creationId xmlns:a16="http://schemas.microsoft.com/office/drawing/2014/main" id="{C73B395F-2ABA-81A9-F370-0DF3EE479DAE}"/>
              </a:ext>
            </a:extLst>
          </p:cNvPr>
          <p:cNvCxnSpPr/>
          <p:nvPr/>
        </p:nvCxnSpPr>
        <p:spPr>
          <a:xfrm flipV="1">
            <a:off x="1353787" y="1971304"/>
            <a:ext cx="6293922" cy="11637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88692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73C37-3554-0EFA-D9C5-B5290358D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BDC68-4649-A798-E6DA-750080EF4BAA}"/>
              </a:ext>
            </a:extLst>
          </p:cNvPr>
          <p:cNvSpPr>
            <a:spLocks noGrp="1"/>
          </p:cNvSpPr>
          <p:nvPr>
            <p:ph type="title"/>
          </p:nvPr>
        </p:nvSpPr>
        <p:spPr>
          <a:xfrm>
            <a:off x="90054" y="-228642"/>
            <a:ext cx="10515600" cy="1325563"/>
          </a:xfrm>
        </p:spPr>
        <p:txBody>
          <a:bodyPr/>
          <a:lstStyle/>
          <a:p>
            <a:r>
              <a:rPr lang="en-US" dirty="0"/>
              <a:t>How it works: Core task</a:t>
            </a:r>
          </a:p>
        </p:txBody>
      </p:sp>
      <p:sp>
        <p:nvSpPr>
          <p:cNvPr id="8" name="TextBox 7">
            <a:extLst>
              <a:ext uri="{FF2B5EF4-FFF2-40B4-BE49-F238E27FC236}">
                <a16:creationId xmlns:a16="http://schemas.microsoft.com/office/drawing/2014/main" id="{80CC85CC-8773-9E0F-0309-A05E2EDF6F49}"/>
              </a:ext>
            </a:extLst>
          </p:cNvPr>
          <p:cNvSpPr txBox="1"/>
          <p:nvPr/>
        </p:nvSpPr>
        <p:spPr>
          <a:xfrm>
            <a:off x="244433" y="3079529"/>
            <a:ext cx="6339674" cy="3139321"/>
          </a:xfrm>
          <a:prstGeom prst="rect">
            <a:avLst/>
          </a:prstGeom>
          <a:noFill/>
        </p:spPr>
        <p:txBody>
          <a:bodyPr wrap="square" rtlCol="0">
            <a:spAutoFit/>
          </a:bodyPr>
          <a:lstStyle/>
          <a:p>
            <a:r>
              <a:rPr lang="en-PH" dirty="0"/>
              <a:t>I used </a:t>
            </a:r>
            <a:r>
              <a:rPr lang="en-PH" dirty="0" err="1"/>
              <a:t>shutil.copy</a:t>
            </a:r>
            <a:r>
              <a:rPr lang="en-PH" dirty="0"/>
              <a:t> to replace image1.png in the temporary DOCX extraction path with a local version, it ensured the proper re-compilation without template issues. </a:t>
            </a:r>
          </a:p>
          <a:p>
            <a:endParaRPr lang="en-PH" dirty="0"/>
          </a:p>
          <a:p>
            <a:r>
              <a:rPr lang="en-PH" dirty="0"/>
              <a:t>On the previous project (rebranding) I also used this concept wherein the image1.png from local is another logo (Noble Corp logo) to replace the existing (Maersk Drilling logo) in the document. </a:t>
            </a:r>
          </a:p>
          <a:p>
            <a:endParaRPr lang="en-PH" dirty="0"/>
          </a:p>
          <a:p>
            <a:r>
              <a:rPr lang="en-PH" dirty="0"/>
              <a:t>This method serves as an effective workaround for the current project's rebranding needs, though it is not a universal solution.</a:t>
            </a:r>
            <a:endParaRPr lang="en-US" dirty="0"/>
          </a:p>
        </p:txBody>
      </p:sp>
      <p:pic>
        <p:nvPicPr>
          <p:cNvPr id="5" name="Picture 4">
            <a:extLst>
              <a:ext uri="{FF2B5EF4-FFF2-40B4-BE49-F238E27FC236}">
                <a16:creationId xmlns:a16="http://schemas.microsoft.com/office/drawing/2014/main" id="{D5520C60-786C-3A37-F85F-362295EDD898}"/>
              </a:ext>
            </a:extLst>
          </p:cNvPr>
          <p:cNvPicPr>
            <a:picLocks noChangeAspect="1"/>
          </p:cNvPicPr>
          <p:nvPr/>
        </p:nvPicPr>
        <p:blipFill>
          <a:blip r:embed="rId3"/>
          <a:stretch>
            <a:fillRect/>
          </a:stretch>
        </p:blipFill>
        <p:spPr>
          <a:xfrm>
            <a:off x="435426" y="959473"/>
            <a:ext cx="4576064" cy="1782505"/>
          </a:xfrm>
          <a:prstGeom prst="rect">
            <a:avLst/>
          </a:prstGeom>
        </p:spPr>
      </p:pic>
      <p:pic>
        <p:nvPicPr>
          <p:cNvPr id="12" name="Picture 11">
            <a:extLst>
              <a:ext uri="{FF2B5EF4-FFF2-40B4-BE49-F238E27FC236}">
                <a16:creationId xmlns:a16="http://schemas.microsoft.com/office/drawing/2014/main" id="{EAC9EAAE-A5D1-ED0D-9B89-C6EA6FB6FC07}"/>
              </a:ext>
            </a:extLst>
          </p:cNvPr>
          <p:cNvPicPr>
            <a:picLocks noChangeAspect="1"/>
          </p:cNvPicPr>
          <p:nvPr/>
        </p:nvPicPr>
        <p:blipFill>
          <a:blip r:embed="rId4"/>
          <a:stretch>
            <a:fillRect/>
          </a:stretch>
        </p:blipFill>
        <p:spPr>
          <a:xfrm>
            <a:off x="5223657" y="959473"/>
            <a:ext cx="4912428" cy="1782505"/>
          </a:xfrm>
          <a:prstGeom prst="rect">
            <a:avLst/>
          </a:prstGeom>
        </p:spPr>
      </p:pic>
      <p:cxnSp>
        <p:nvCxnSpPr>
          <p:cNvPr id="6" name="Straight Arrow Connector 5">
            <a:extLst>
              <a:ext uri="{FF2B5EF4-FFF2-40B4-BE49-F238E27FC236}">
                <a16:creationId xmlns:a16="http://schemas.microsoft.com/office/drawing/2014/main" id="{05009CCA-5747-0EBF-D673-C49A02440F0E}"/>
              </a:ext>
            </a:extLst>
          </p:cNvPr>
          <p:cNvCxnSpPr/>
          <p:nvPr/>
        </p:nvCxnSpPr>
        <p:spPr>
          <a:xfrm flipH="1">
            <a:off x="1586346" y="2208810"/>
            <a:ext cx="56932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757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9F07F-C6FD-26CE-E5B4-BC3F8FD30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C8828-BBE0-FABC-BF2C-A6937E1A4DE4}"/>
              </a:ext>
            </a:extLst>
          </p:cNvPr>
          <p:cNvSpPr>
            <a:spLocks noGrp="1"/>
          </p:cNvSpPr>
          <p:nvPr>
            <p:ph type="title"/>
          </p:nvPr>
        </p:nvSpPr>
        <p:spPr>
          <a:xfrm>
            <a:off x="90054" y="-228642"/>
            <a:ext cx="10515600" cy="1325563"/>
          </a:xfrm>
        </p:spPr>
        <p:txBody>
          <a:bodyPr/>
          <a:lstStyle/>
          <a:p>
            <a:r>
              <a:rPr lang="en-US" dirty="0"/>
              <a:t>How it works: Core task</a:t>
            </a:r>
          </a:p>
        </p:txBody>
      </p:sp>
      <p:pic>
        <p:nvPicPr>
          <p:cNvPr id="3" name="Picture 2">
            <a:extLst>
              <a:ext uri="{FF2B5EF4-FFF2-40B4-BE49-F238E27FC236}">
                <a16:creationId xmlns:a16="http://schemas.microsoft.com/office/drawing/2014/main" id="{7019D34C-F978-CF3B-C04B-9EB050FAB686}"/>
              </a:ext>
            </a:extLst>
          </p:cNvPr>
          <p:cNvPicPr>
            <a:picLocks noChangeAspect="1"/>
          </p:cNvPicPr>
          <p:nvPr/>
        </p:nvPicPr>
        <p:blipFill>
          <a:blip r:embed="rId3"/>
          <a:stretch>
            <a:fillRect/>
          </a:stretch>
        </p:blipFill>
        <p:spPr>
          <a:xfrm>
            <a:off x="5711791" y="1247686"/>
            <a:ext cx="5503453" cy="1321126"/>
          </a:xfrm>
          <a:prstGeom prst="rect">
            <a:avLst/>
          </a:prstGeom>
        </p:spPr>
      </p:pic>
      <p:pic>
        <p:nvPicPr>
          <p:cNvPr id="4" name="Picture 3">
            <a:extLst>
              <a:ext uri="{FF2B5EF4-FFF2-40B4-BE49-F238E27FC236}">
                <a16:creationId xmlns:a16="http://schemas.microsoft.com/office/drawing/2014/main" id="{2E55BBAB-A744-2BE2-57D9-0F92D985CB53}"/>
              </a:ext>
            </a:extLst>
          </p:cNvPr>
          <p:cNvPicPr>
            <a:picLocks noChangeAspect="1"/>
          </p:cNvPicPr>
          <p:nvPr/>
        </p:nvPicPr>
        <p:blipFill>
          <a:blip r:embed="rId4"/>
          <a:stretch>
            <a:fillRect/>
          </a:stretch>
        </p:blipFill>
        <p:spPr>
          <a:xfrm>
            <a:off x="161925" y="993785"/>
            <a:ext cx="5185929" cy="1575027"/>
          </a:xfrm>
          <a:prstGeom prst="rect">
            <a:avLst/>
          </a:prstGeom>
        </p:spPr>
      </p:pic>
      <p:cxnSp>
        <p:nvCxnSpPr>
          <p:cNvPr id="9" name="Straight Arrow Connector 8">
            <a:extLst>
              <a:ext uri="{FF2B5EF4-FFF2-40B4-BE49-F238E27FC236}">
                <a16:creationId xmlns:a16="http://schemas.microsoft.com/office/drawing/2014/main" id="{DFA140B3-F39C-38C9-2525-52597F10D2C7}"/>
              </a:ext>
            </a:extLst>
          </p:cNvPr>
          <p:cNvCxnSpPr>
            <a:cxnSpLocks/>
          </p:cNvCxnSpPr>
          <p:nvPr/>
        </p:nvCxnSpPr>
        <p:spPr>
          <a:xfrm flipV="1">
            <a:off x="2980706" y="1555668"/>
            <a:ext cx="4797632" cy="451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13F1645-0E9D-4B36-EC44-3E9048E4AE36}"/>
              </a:ext>
            </a:extLst>
          </p:cNvPr>
          <p:cNvSpPr txBox="1"/>
          <p:nvPr/>
        </p:nvSpPr>
        <p:spPr>
          <a:xfrm>
            <a:off x="285007" y="3027559"/>
            <a:ext cx="4512624" cy="1200329"/>
          </a:xfrm>
          <a:prstGeom prst="rect">
            <a:avLst/>
          </a:prstGeom>
          <a:noFill/>
        </p:spPr>
        <p:txBody>
          <a:bodyPr wrap="square" rtlCol="0">
            <a:spAutoFit/>
          </a:bodyPr>
          <a:lstStyle/>
          <a:p>
            <a:r>
              <a:rPr lang="en-PH" dirty="0"/>
              <a:t>The solution successfully removes the logo from DOCX files during PDF conversion, preserving data integrity and document alignment.</a:t>
            </a:r>
            <a:endParaRPr lang="en-US" dirty="0"/>
          </a:p>
        </p:txBody>
      </p:sp>
    </p:spTree>
    <p:extLst>
      <p:ext uri="{BB962C8B-B14F-4D97-AF65-F5344CB8AC3E}">
        <p14:creationId xmlns:p14="http://schemas.microsoft.com/office/powerpoint/2010/main" val="2762193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5B784-E585-7ACC-CF83-2D7AA7843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92C7A-7BBB-1711-D981-F8C6E09FA06C}"/>
              </a:ext>
            </a:extLst>
          </p:cNvPr>
          <p:cNvSpPr>
            <a:spLocks noGrp="1"/>
          </p:cNvSpPr>
          <p:nvPr>
            <p:ph type="title"/>
          </p:nvPr>
        </p:nvSpPr>
        <p:spPr>
          <a:xfrm>
            <a:off x="0" y="0"/>
            <a:ext cx="6882246" cy="647742"/>
          </a:xfrm>
        </p:spPr>
        <p:txBody>
          <a:bodyPr>
            <a:normAutofit fontScale="90000"/>
          </a:bodyPr>
          <a:lstStyle/>
          <a:p>
            <a:r>
              <a:rPr lang="en-US" dirty="0"/>
              <a:t>Learnings &amp; Conclusion</a:t>
            </a:r>
          </a:p>
        </p:txBody>
      </p:sp>
      <p:sp>
        <p:nvSpPr>
          <p:cNvPr id="14" name="TextBox 13">
            <a:extLst>
              <a:ext uri="{FF2B5EF4-FFF2-40B4-BE49-F238E27FC236}">
                <a16:creationId xmlns:a16="http://schemas.microsoft.com/office/drawing/2014/main" id="{49C85A8F-69EF-C0B2-DADD-739ADE868D38}"/>
              </a:ext>
            </a:extLst>
          </p:cNvPr>
          <p:cNvSpPr txBox="1"/>
          <p:nvPr/>
        </p:nvSpPr>
        <p:spPr>
          <a:xfrm>
            <a:off x="534388" y="657534"/>
            <a:ext cx="11429012" cy="5078313"/>
          </a:xfrm>
          <a:prstGeom prst="rect">
            <a:avLst/>
          </a:prstGeom>
          <a:noFill/>
        </p:spPr>
        <p:txBody>
          <a:bodyPr wrap="square" rtlCol="0">
            <a:spAutoFit/>
          </a:bodyPr>
          <a:lstStyle/>
          <a:p>
            <a:r>
              <a:rPr lang="en-PH" dirty="0"/>
              <a:t>This project served as a significant test of my resourcefulness and adaptability under tight deadlines. Tasked with a critical component of the solution, I learned an existing Python script just two months on top of my automation dev tasks before project initiation. My immediate challenge was to rapidly breakdown its existing logic, understand its underlying functionality, and then strategically modify it for a highly specific use case within the project's scope. This requires not only strong analytical skills but also the creativity to leverage it’s core capabilities to meet the project requirements.</a:t>
            </a:r>
          </a:p>
          <a:p>
            <a:endParaRPr lang="en-PH" dirty="0"/>
          </a:p>
          <a:p>
            <a:r>
              <a:rPr lang="en-PH" dirty="0"/>
              <a:t>This engagement provided an invaluable opportunity to put my knowledge of system integration into practice. It  reinforced my understanding of how Python, a versatile programming language, can dramatically extend the capabilities of Robotic Process Automation (RPA) tools like Blue Prism. While Blue Prism excels in process orchestration and UI automation, integrating custom Python executables allowed us to tackle complex tasks – such as advanced document manipulation (e.g., precise logo replacement and robust PDF-to-DOCX conversion) – that would otherwise be challenging or impossible with Blue Prism's native functionalities alone. This strategic combination of tools truly widened the scope and power of our RPA robots.</a:t>
            </a:r>
          </a:p>
          <a:p>
            <a:endParaRPr lang="en-PH" dirty="0"/>
          </a:p>
          <a:p>
            <a:r>
              <a:rPr lang="en-PH" dirty="0"/>
              <a:t>Ultimately, this project marked a significant milestone for the team. It was the first initiative to  </a:t>
            </a:r>
            <a:r>
              <a:rPr lang="en-PH"/>
              <a:t>showcase our </a:t>
            </a:r>
            <a:r>
              <a:rPr lang="en-PH" dirty="0"/>
              <a:t>capability to innovate beyond the confines of a single RPA platform like Blue Prism. By integrating external programming tools, we proved our agility and forward-thinking approach, opening new avenues for complex automation challenges.</a:t>
            </a:r>
          </a:p>
          <a:p>
            <a:endParaRPr lang="en-US" dirty="0"/>
          </a:p>
        </p:txBody>
      </p:sp>
    </p:spTree>
    <p:extLst>
      <p:ext uri="{BB962C8B-B14F-4D97-AF65-F5344CB8AC3E}">
        <p14:creationId xmlns:p14="http://schemas.microsoft.com/office/powerpoint/2010/main" val="113603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1427</TotalTime>
  <Words>735</Words>
  <Application>Microsoft Macintosh PowerPoint</Application>
  <PresentationFormat>Widescreen</PresentationFormat>
  <Paragraphs>31</Paragraphs>
  <Slides>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Abadi</vt:lpstr>
      <vt:lpstr>Arial</vt:lpstr>
      <vt:lpstr>Calibri</vt:lpstr>
      <vt:lpstr>Calibri Light</vt:lpstr>
      <vt:lpstr>Office Theme</vt:lpstr>
      <vt:lpstr>Debranding of Diamond Drilling Documents</vt:lpstr>
      <vt:lpstr>Process Flow</vt:lpstr>
      <vt:lpstr>The problem &amp; idea</vt:lpstr>
      <vt:lpstr>The solution &amp; output</vt:lpstr>
      <vt:lpstr>How it did i</vt:lpstr>
      <vt:lpstr>How it works: Core task</vt:lpstr>
      <vt:lpstr>How it works: Core task</vt:lpstr>
      <vt:lpstr>How it works: Core task</vt:lpstr>
      <vt:lpstr>Learnings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 Malong</dc:creator>
  <cp:lastModifiedBy>Mark Malong</cp:lastModifiedBy>
  <cp:revision>9</cp:revision>
  <dcterms:created xsi:type="dcterms:W3CDTF">2025-07-08T14:43:21Z</dcterms:created>
  <dcterms:modified xsi:type="dcterms:W3CDTF">2025-07-12T07:16:55Z</dcterms:modified>
</cp:coreProperties>
</file>